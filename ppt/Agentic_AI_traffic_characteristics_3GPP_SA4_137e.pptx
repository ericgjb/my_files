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846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Microsoft YaHei"/>
              </a:rPr>
              <a:t>Agentic AI 流量特性分析：本地 Agent 与 A2A 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8000" y="482400"/>
            <a:ext cx="8820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19" b="0">
                <a:solidFill>
                  <a:srgbClr val="475569"/>
                </a:solidFill>
                <a:latin typeface="Aptos"/>
              </a:rPr>
              <a:t>基于 3GPP SA4#137-e S4-261814：OpenClaw personal assistant + Agent2Agent deterministic collaboration across 10 network profiles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60000" y="198000"/>
            <a:ext cx="2448000" cy="324000"/>
          </a:xfrm>
          <a:prstGeom prst="roundRect">
            <a:avLst>
              <a:gd name="adj" fmla="val 8000"/>
            </a:avLst>
          </a:prstGeom>
          <a:solidFill>
            <a:srgbClr val="7C2D12"/>
          </a:solidFill>
          <a:ln w="7620">
            <a:solidFill>
              <a:srgbClr val="7C2D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Microsoft YaHei"/>
              </a:rPr>
              <a:t>S4-261814 / TR 26.870 pCR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774000"/>
            <a:ext cx="3564000" cy="198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860" b="1">
                <a:solidFill>
                  <a:srgbClr val="1E3A8A"/>
                </a:solidFill>
                <a:latin typeface="Microsoft YaHei"/>
              </a:rPr>
              <a:t>1. Measurement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50000" y="774000"/>
            <a:ext cx="3798000" cy="198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860" b="1">
                <a:solidFill>
                  <a:srgbClr val="14532D"/>
                </a:solidFill>
                <a:latin typeface="Microsoft YaHei"/>
              </a:rPr>
              <a:t>2. Quantified Traffic Surfaces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73999" y="774000"/>
            <a:ext cx="3851999" cy="198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860" b="1">
                <a:solidFill>
                  <a:srgbClr val="92400E"/>
                </a:solidFill>
                <a:latin typeface="Microsoft YaHei"/>
              </a:rPr>
              <a:t>3. Network Design Implications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062000"/>
            <a:ext cx="3564000" cy="774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40" b="1">
                <a:solidFill>
                  <a:srgbClr val="1E3A8A"/>
                </a:solidFill>
                <a:latin typeface="Microsoft YaHei"/>
              </a:rPr>
              <a:t>Personal assistant agent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Local-first OpenClaw runtime on UE/user device; runtime invokes commercial/local LLM plus browser/file/shell tools.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Two surfaces measured separately: loopback control channel and WAN runtime egress to LLM/tools.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Fresh session per task avoids monotonically increasing history/context across 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62000"/>
            <a:ext cx="3564000" cy="774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40" b="1">
                <a:solidFill>
                  <a:srgbClr val="1E3A8A"/>
                </a:solidFill>
                <a:latin typeface="Microsoft YaHei"/>
              </a:rPr>
              <a:t>Agent-to-Agent collaboration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A2A protocol: AgentCard capability discovery, message/send non-streaming, message/stream over SSE.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Deterministic agents without LLM isolate protocol + transport cost from inference variance.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Three modes: single task, streaming delegation, multi-agent sequential fan-out to two peers.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2862000"/>
          <a:ext cx="3564000" cy="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00"/>
                <a:gridCol w="712800"/>
                <a:gridCol w="712800"/>
                <a:gridCol w="712800"/>
                <a:gridCol w="712800"/>
              </a:tblGrid>
              <a:tr h="162000">
                <a:tc>
                  <a:txBody>
                    <a:bodyPr/>
                    <a:lstStyle/>
                    <a:p>
                      <a:pPr algn="l">
                        <a:defRPr sz="73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Scenario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3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Turns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3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Profiles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3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Success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3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Mean lat.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OpenClaw PA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200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14.694 s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A2A single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198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98.5%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0.174 s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A2A stream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99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0.435 s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A2A multi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100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99.0%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1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0.547 s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96000" y="3834000"/>
            <a:ext cx="972000" cy="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819" b="1">
                <a:solidFill>
                  <a:srgbClr val="1E3A8A"/>
                </a:solidFill>
                <a:latin typeface="Microsoft YaHei"/>
              </a:rPr>
              <a:t>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58000" y="3834000"/>
            <a:ext cx="972000" cy="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819" b="1">
                <a:solidFill>
                  <a:srgbClr val="1E3A8A"/>
                </a:solidFill>
                <a:latin typeface="Microsoft YaHei"/>
              </a:rPr>
              <a:t>Context +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0" y="3834000"/>
            <a:ext cx="972000" cy="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819" b="1">
                <a:solidFill>
                  <a:srgbClr val="1E3A8A"/>
                </a:solidFill>
                <a:latin typeface="Microsoft YaHei"/>
              </a:rPr>
              <a:t>LLM/Tool Calls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5200" y="3967200"/>
            <a:ext cx="71999" cy="0"/>
          </a:xfrm>
          <a:prstGeom prst="line">
            <a:avLst/>
          </a:prstGeom>
          <a:ln w="1651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437200" y="3967200"/>
            <a:ext cx="72000" cy="0"/>
          </a:xfrm>
          <a:prstGeom prst="line">
            <a:avLst/>
          </a:prstGeom>
          <a:ln w="1651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8000" y="4212000"/>
            <a:ext cx="3510000" cy="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334155"/>
                </a:solidFill>
                <a:latin typeface="Microsoft YaHei"/>
              </a:rPr>
              <a:t>Agent turn 的网络视角是 repeated context upload + tool fan-out，不等同于一次普通 chat API call。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50000" y="1062000"/>
            <a:ext cx="3798000" cy="9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01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40" b="1">
                <a:solidFill>
                  <a:srgbClr val="14532D"/>
                </a:solidFill>
                <a:latin typeface="Microsoft YaHei"/>
              </a:rPr>
              <a:t>Layer mismatch: app-layer 与 network-layer 结论相反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Control-channel driver view: 144 B UL / 20,230 B DL，UL/DL = 0.007，表面上极度 DL-heavy。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WAN runtime egress: 175,649 B UL / 353,972 B DL，UL/DL = 0.496，接入网实际承载近似对称。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原因：每个 agent step 重传 accumulated context、system prompt、tool definitions。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050000" y="2070000"/>
          <a:ext cx="3798000" cy="82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600"/>
                <a:gridCol w="759600"/>
                <a:gridCol w="759600"/>
                <a:gridCol w="759600"/>
                <a:gridCol w="759600"/>
              </a:tblGrid>
              <a:tr h="165599">
                <a:tc>
                  <a:txBody>
                    <a:bodyPr/>
                    <a:lstStyle/>
                    <a:p>
                      <a:pPr algn="l">
                        <a:defRPr sz="72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Surface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UL/turn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DL/turn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UL/DL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Layer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</a:tr>
              <a:tr h="16559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PA control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3.8 KB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50.0 KB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0.076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net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559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PA WAN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175.6 KB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354.0 KB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0.496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net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559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A2A loopback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1.9 KB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4.1 KB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0.473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net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5603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A2A stream app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565 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202 B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2.797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app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050000" y="3006000"/>
            <a:ext cx="3798000" cy="792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01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40" b="1">
                <a:solidFill>
                  <a:srgbClr val="14532D"/>
                </a:solidFill>
                <a:latin typeface="Microsoft YaHei"/>
              </a:rPr>
              <a:t>Latency decomposition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Personal assistant: inference + tool execution dominates; no_emulation 11.4 s, congested 26.6 s, satellite_geo 24.4 s.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A2A deterministic path: latency tracks RTT; single task 0.002 s baseline -&gt; 0.687 s GEO.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Streaming adds inter-chunk spacing; multi-agent adds ~0.28 s fixed orchestration cost.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050000" y="3906000"/>
          <a:ext cx="3798000" cy="77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600"/>
                <a:gridCol w="759600"/>
                <a:gridCol w="759600"/>
                <a:gridCol w="759600"/>
                <a:gridCol w="759600"/>
              </a:tblGrid>
              <a:tr h="154800">
                <a:tc>
                  <a:txBody>
                    <a:bodyPr/>
                    <a:lstStyle/>
                    <a:p>
                      <a:pPr algn="l">
                        <a:defRPr sz="72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Profile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PA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A2A single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A2A stream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A2A multi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</a:tr>
              <a:tr h="15480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no emu.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11.415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0.002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0.205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0.277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5480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cell-edge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18.074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0.321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0.558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0.940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5480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sat GEO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24.356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0.687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0.902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0.960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5480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congested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26.587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0.434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1.161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1.324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973999" y="1062000"/>
            <a:ext cx="3851999" cy="756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40" b="1">
                <a:solidFill>
                  <a:srgbClr val="9A3412"/>
                </a:solidFill>
                <a:latin typeface="Microsoft YaHei"/>
              </a:rPr>
              <a:t>Uplink grant latency gates agentic workloads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Agentic traffic breaks classical media DL-heavy capacity assumption.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Repeated context/tool definition upload makes UL scheduling and buffer sizing visible at service latency level.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999" y="1900800"/>
            <a:ext cx="3851999" cy="756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40" b="1">
                <a:solidFill>
                  <a:srgbClr val="9A3412"/>
                </a:solidFill>
                <a:latin typeface="Microsoft YaHei"/>
              </a:rPr>
              <a:t>Small signaling, high sensitivity to PER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A2A messages are only a few hundred bytes at application layer, so bandwidth is not limiting.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Delay alone is tolerated, but lossy profiles caused the observed A2A failures; target low PER over high throughput.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999" y="2739600"/>
            <a:ext cx="3851999" cy="756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40" b="1">
                <a:solidFill>
                  <a:srgbClr val="9A3412"/>
                </a:solidFill>
                <a:latin typeface="Microsoft YaHei"/>
              </a:rPr>
              <a:t>Connection behavior matters as much as payload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OpenClaw egress: 2.46 TCP flows/turn, 28 distinct destinations, TLS handshake p50 1.33 s / p95 3.64 s.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0-RTT resumption, connection coalescing and persistent multiplexed transports can beat raw capacity upgrades.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3999" y="3578400"/>
            <a:ext cx="3851999" cy="756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40" b="1">
                <a:solidFill>
                  <a:srgbClr val="9A3412"/>
                </a:solidFill>
                <a:latin typeface="Microsoft YaHei"/>
              </a:rPr>
              <a:t>Recommended traffic model axes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Model by surface: local control, WAN runtime egress, A2A interworking.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Microsoft YaHei"/>
              </a:defRPr>
            </a:pPr>
            <a:r>
              <a:t>Metrics: UL/DL per turn, flow fan-out, setup/TLS time, retransmission rate, agent steps/tool calls, RTT/loss sensitivity.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000" y="4878000"/>
            <a:ext cx="11466000" cy="1314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64800"/>
          <a:lstStyle/>
          <a:p>
            <a:pPr algn="ctr"/>
            <a:r>
              <a:rPr sz="1100" b="1">
                <a:solidFill>
                  <a:srgbClr val="BFDBFE"/>
                </a:solidFill>
                <a:latin typeface="Aptos"/>
              </a:rPr>
              <a:t>Technical Takeaway</a:t>
            </a:r>
          </a:p>
          <a:p>
            <a:pPr>
              <a:spcBef>
                <a:spcPts val="300"/>
              </a:spcBef>
              <a:defRPr sz="900">
                <a:solidFill>
                  <a:srgbClr val="E2E8F0"/>
                </a:solidFill>
                <a:latin typeface="Microsoft YaHei"/>
              </a:defRPr>
            </a:pPr>
            <a:r>
              <a:t>Agentic AI should be dimensioned as a compound control/signaling workload: many encrypted short flows, repeated state upload, and tool/API fan-out.</a:t>
            </a:r>
          </a:p>
          <a:p>
            <a:pPr>
              <a:spcBef>
                <a:spcPts val="300"/>
              </a:spcBef>
              <a:defRPr sz="900">
                <a:solidFill>
                  <a:srgbClr val="E2E8F0"/>
                </a:solidFill>
                <a:latin typeface="Microsoft YaHei"/>
              </a:defRPr>
            </a:pPr>
            <a:r>
              <a:t>Personal assistant traffic is inference-variance dominated until severe impairment; A2A traffic is RTT/PER dominated because deterministic agents remove model compute from the path.</a:t>
            </a:r>
          </a:p>
          <a:p>
            <a:pPr>
              <a:spcBef>
                <a:spcPts val="300"/>
              </a:spcBef>
              <a:defRPr sz="900">
                <a:solidFill>
                  <a:srgbClr val="E2E8F0"/>
                </a:solidFill>
                <a:latin typeface="Microsoft YaHei"/>
              </a:defRPr>
            </a:pPr>
            <a:r>
              <a:t>For 6G AI/ML service traffic models, network-layer measurements are mandatory: application payload alone can misclassify the directionality by two orders of magnitude.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000" y="6408000"/>
            <a:ext cx="1144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30" b="0">
                <a:solidFill>
                  <a:srgbClr val="64748B"/>
                </a:solidFill>
                <a:latin typeface="Aptos"/>
              </a:rPr>
              <a:t>Source: 3GPP SA4#137-e S4-261814.zip, Collated_AI_Traffic_Results_note_0_5_1_A2A.xlsx | Metrics from packet captures exclude bookkeeping records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67200" y="756000"/>
            <a:ext cx="0" cy="397800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91200" y="756000"/>
            <a:ext cx="0" cy="397800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