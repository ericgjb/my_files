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8568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Microsoft YaHei"/>
              </a:rPr>
              <a:t>多模态意图理解：6G Media Service 侧的语义抽象与边界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482400"/>
            <a:ext cx="892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10" b="0">
                <a:solidFill>
                  <a:srgbClr val="475569"/>
                </a:solidFill>
                <a:latin typeface="Aptos"/>
              </a:rPr>
              <a:t>基于 3GPP SA4#137-e S4-261484 / S4-261648：将 gaze、gesture、speech、scene、text、device context 转换为 media-service intent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32000" y="198000"/>
            <a:ext cx="2376000" cy="324000"/>
          </a:xfrm>
          <a:prstGeom prst="roundRect">
            <a:avLst>
              <a:gd name="adj" fmla="val 8000"/>
            </a:avLst>
          </a:prstGeom>
          <a:solidFill>
            <a:srgbClr val="14532D"/>
          </a:solidFill>
          <a:ln w="762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940" b="1">
                <a:solidFill>
                  <a:srgbClr val="FFFFFF"/>
                </a:solidFill>
                <a:latin typeface="Microsoft YaHei"/>
              </a:rPr>
              <a:t>FS_6G_MED WT2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774000"/>
            <a:ext cx="3600000" cy="198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1E3A8A"/>
                </a:solidFill>
                <a:latin typeface="Microsoft YaHei"/>
              </a:rPr>
              <a:t>1. Intent Understanding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6000" y="774000"/>
            <a:ext cx="3671999" cy="198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14532D"/>
                </a:solidFill>
                <a:latin typeface="Microsoft YaHei"/>
              </a:rPr>
              <a:t>2. SA4 Scope And Interfaces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3999" y="774000"/>
            <a:ext cx="3941999" cy="198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840" b="1">
                <a:solidFill>
                  <a:srgbClr val="92400E"/>
                </a:solidFill>
                <a:latin typeface="Microsoft YaHei"/>
              </a:rPr>
              <a:t>3. Study Issues For TR 26.870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62000"/>
            <a:ext cx="3600000" cy="774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E3A8A"/>
                </a:solidFill>
                <a:latin typeface="Microsoft YaHei"/>
              </a:rPr>
              <a:t>Input signal space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Multimodal context: audio, video, haptics, scene description, gaze, gestures, text, device context.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Sensitive by default: speech content, first-person video, accessibility context and personal preferences.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Raw signal exposure should not be the default network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000" y="1998000"/>
            <a:ext cx="66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Signals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2800" y="2167200"/>
            <a:ext cx="133200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242000" y="1998000"/>
            <a:ext cx="66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Fusion/
Inference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18800" y="2167200"/>
            <a:ext cx="133200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88000" y="1998000"/>
            <a:ext cx="66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Intent
Abstraction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64800" y="2167200"/>
            <a:ext cx="133200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4000" y="1998000"/>
            <a:ext cx="666000" cy="34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4400" bIns="14400" wrap="square">
            <a:normAutofit/>
          </a:bodyPr>
          <a:lstStyle/>
          <a:p>
            <a:pPr algn="ctr"/>
            <a:r>
              <a:rPr sz="740" b="1">
                <a:solidFill>
                  <a:srgbClr val="1E3A8A"/>
                </a:solidFill>
                <a:latin typeface="Microsoft YaHei"/>
              </a:rPr>
              <a:t>Media
Action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2520000"/>
          <a:ext cx="3600000" cy="88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200000"/>
                <a:gridCol w="1200000"/>
              </a:tblGrid>
              <a:tr h="176400">
                <a:tc>
                  <a:txBody>
                    <a:bodyPr/>
                    <a:lstStyle/>
                    <a:p>
                      <a:pPr algn="l">
                        <a:defRPr sz="695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Media intent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5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Observable context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5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Service behaviour</a:t>
                      </a:r>
                    </a:p>
                  </a:txBody>
                  <a:tcPr marL="18000" marR="18000" marT="10800" marB="10800">
                    <a:solidFill>
                      <a:srgbClr val="DBEAFE"/>
                    </a:solidFill>
                  </a:tcPr>
                </a:tc>
              </a:tr>
              <a:tr h="1764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Focus speaker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gaze + speech + scene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view/crop/audio focus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64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Preserve haptics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gesture + haptic state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latency/QoE priority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64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Switch viewpoint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pose + text command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camera/viewport change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76400">
                <a:tc>
                  <a:txBody>
                    <a:bodyPr/>
                    <a:lstStyle/>
                    <a:p>
                      <a:pPr algn="l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Adapt avatar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video + preference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5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representation selection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60000" y="3535200"/>
            <a:ext cx="3600000" cy="756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E3A8A"/>
                </a:solidFill>
                <a:latin typeface="Microsoft YaHei"/>
              </a:rPr>
              <a:t>Technical abstraction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Intent is not a NAS/network command; it is media-service-level interpretation of user/application objective.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Output should be structured media requirements or adaptation requests, not unconstrained user-context dumps.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6000" y="1062000"/>
            <a:ext cx="3671999" cy="81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4532D"/>
                </a:solidFill>
                <a:latin typeface="Microsoft YaHei"/>
              </a:rPr>
              <a:t>Boundary with SA2 intent work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SA2 studies 6G system architecture intent handling, including network-level intent and request fulfilment.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SA4 should study media-service intent: session control, media processing, adaptation and QoE support.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Avoid duplicating NAS intent transport or system-level intent orchestration.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6000" y="1998000"/>
            <a:ext cx="3671999" cy="774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4532D"/>
                </a:solidFill>
                <a:latin typeface="Microsoft YaHei"/>
              </a:rPr>
              <a:t>Function placement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Do not assume UE MT stack produces/parses media intents.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Intent understanding may run in media-service functions according to delivery architecture.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WT2 asks which AI/ML functions run on-device vs network, and what formats/protocols cross the interface.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086000" y="2898000"/>
          <a:ext cx="3671999" cy="8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999"/>
                <a:gridCol w="1223999"/>
                <a:gridCol w="1224001"/>
              </a:tblGrid>
              <a:tr h="169200">
                <a:tc>
                  <a:txBody>
                    <a:bodyPr/>
                    <a:lstStyle/>
                    <a:p>
                      <a:pPr algn="l">
                        <a:defRPr sz="69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Layer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In SA4 scope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90" b="1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Out / coordinate</a:t>
                      </a:r>
                    </a:p>
                  </a:txBody>
                  <a:tcPr marL="18000" marR="18000" marT="10800" marB="10800">
                    <a:solidFill>
                      <a:srgbClr val="DCFCE7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Media app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objective inference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raw privacy leakage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Session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media adaptation/control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NAS intent transport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QoE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haptic, viewpoint, avatar needs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network intent fulfilment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  <a:tr h="169200">
                <a:tc>
                  <a:txBody>
                    <a:bodyPr/>
                    <a:lstStyle/>
                    <a:p>
                      <a:pPr algn="l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Format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media AI data components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70" b="0">
                          <a:solidFill>
                            <a:srgbClr val="111827"/>
                          </a:solidFill>
                          <a:latin typeface="Microsoft YaHei"/>
                        </a:defRPr>
                      </a:pPr>
                      <a:r>
                        <a:t>SA2 architecture semantics</a:t>
                      </a:r>
                    </a:p>
                  </a:txBody>
                  <a:tcPr marL="18000" marR="18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086000" y="3877200"/>
            <a:ext cx="3671999" cy="45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14532D"/>
                </a:solidFill>
                <a:latin typeface="Microsoft YaHei"/>
              </a:rPr>
              <a:t>pCR insertion point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S4-261648 proposes updating TR 26.870 clause 6.3.4 AI services and formats to include service models/formats for media services involving multimodal user intents.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3999" y="1062000"/>
            <a:ext cx="3941999" cy="702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Terminology and representation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Define intent object semantics: user objective, application objective, confidence, time validity, source modality references.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Represent intent as media-service requirements where possible.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3999" y="1854000"/>
            <a:ext cx="3941999" cy="702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Formats and protocols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Identify exchanged formats between UE and network/media-service functions.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Study whether intent metadata belongs in media session signalling, application API payloads, or AI-native representation descriptors.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3999" y="2646000"/>
            <a:ext cx="3941999" cy="702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Privacy-preserving exposure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Minimize context crossing network interfaces; expose only authorized, structured and purpose-limited data.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Prefer derived intent/requirement over gaze video, raw speech, preference history, or accessibility context.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83999" y="3438000"/>
            <a:ext cx="3941999" cy="702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016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43200" bIns="28800" wrap="square">
            <a:normAutofit/>
          </a:bodyPr>
          <a:lstStyle/>
          <a:p>
            <a:pPr algn="ctr"/>
            <a:r>
              <a:rPr sz="1030" b="1">
                <a:solidFill>
                  <a:srgbClr val="9A3412"/>
                </a:solidFill>
                <a:latin typeface="Microsoft YaHei"/>
              </a:rPr>
              <a:t>Traffic and QoE characterization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Intent understanding impacts traffic through adaptation decisions rather than only adding payload bytes.</a:t>
            </a:r>
          </a:p>
          <a:p>
            <a:pPr>
              <a:spcBef>
                <a:spcPts val="200"/>
              </a:spcBef>
              <a:defRPr sz="825">
                <a:solidFill>
                  <a:srgbClr val="334155"/>
                </a:solidFill>
                <a:latin typeface="Microsoft YaHei"/>
              </a:defRPr>
            </a:pPr>
            <a:r>
              <a:t>Metrics should link inference latency, confidence, modality freshness and QoE outcome.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0000" y="4698000"/>
            <a:ext cx="11466000" cy="1494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64800"/>
          <a:lstStyle/>
          <a:p>
            <a:pPr algn="ctr"/>
            <a:r>
              <a:rPr sz="1100" b="1">
                <a:solidFill>
                  <a:srgbClr val="BAE6FD"/>
                </a:solidFill>
                <a:latin typeface="Aptos"/>
              </a:rPr>
              <a:t>Technical takeaway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多模态意图理解应定义为 media-service semantics：用多模态上下文推断用户/应用目标，并驱动媒体处理、会话控制、适配和 QoE 支持。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SA4 的关键不是复刻 SA2 network-level intent，而是定义媒体服务可消费的 intent abstraction、函数部署位置、数据格式、协议边界和隐私最小化原则。</a:t>
            </a:r>
          </a:p>
          <a:p>
            <a:pPr>
              <a:spcBef>
                <a:spcPts val="300"/>
              </a:spcBef>
              <a:defRPr sz="900">
                <a:solidFill>
                  <a:srgbClr val="E2E8F0"/>
                </a:solidFill>
                <a:latin typeface="Microsoft YaHei"/>
              </a:defRPr>
            </a:pPr>
            <a:r>
              <a:t>在 TR 26.870 中，intent 可作为连接 AI service models/formats 与 traffic/QoE characterization 的控制面抽象：影响媒体流选择、优先级、同步和表示方式。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408000"/>
            <a:ext cx="1144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25" b="0">
                <a:solidFill>
                  <a:srgbClr val="64748B"/>
                </a:solidFill>
                <a:latin typeface="Aptos"/>
              </a:rPr>
              <a:t>Sources: 3GPP SA4#137-e S4-261484.zip and S4-261648.zip | InterDigital Canada | FS_6G_MED WT2 / TR 26.870 clause 6.3.4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03199" y="756000"/>
            <a:ext cx="0" cy="3798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04800" y="756000"/>
            <a:ext cx="0" cy="379800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