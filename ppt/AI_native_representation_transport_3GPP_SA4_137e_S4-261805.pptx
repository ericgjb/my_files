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62000"/>
            <a:ext cx="8496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20" b="1">
                <a:solidFill>
                  <a:srgbClr val="0F172A"/>
                </a:solidFill>
                <a:latin typeface="Microsoft YaHei"/>
              </a:rPr>
              <a:t>AI-native Representation Transport：Tokenized Traffic 的传输与信令问题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8000" y="482400"/>
            <a:ext cx="8892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10" b="0">
                <a:solidFill>
                  <a:srgbClr val="475569"/>
                </a:solidFill>
                <a:latin typeface="Aptos"/>
              </a:rPr>
              <a:t>基于 3GPP SA4#137-e S4-261805：tokens / embeddings / latents / feature tensors 从模型内部表示变成 6G media 通信对象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96000" y="198000"/>
            <a:ext cx="2412000" cy="324000"/>
          </a:xfrm>
          <a:prstGeom prst="roundRect">
            <a:avLst>
              <a:gd name="adj" fmla="val 8000"/>
            </a:avLst>
          </a:prstGeom>
          <a:solidFill>
            <a:srgbClr val="164E63"/>
          </a:solidFill>
          <a:ln w="7620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4400" bIns="14400" wrap="square">
            <a:norm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Microsoft YaHei"/>
              </a:rPr>
              <a:t>TR 26.870 v0.5.1 pCR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774000"/>
            <a:ext cx="3600000" cy="1980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4400" bIns="14400" wrap="square">
            <a:normAutofit/>
          </a:bodyPr>
          <a:lstStyle/>
          <a:p>
            <a:pPr algn="ctr"/>
            <a:r>
              <a:rPr sz="840" b="1">
                <a:solidFill>
                  <a:srgbClr val="1E3A8A"/>
                </a:solidFill>
                <a:latin typeface="Microsoft YaHei"/>
              </a:rPr>
              <a:t>1. Representation Is The Payload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86000" y="774000"/>
            <a:ext cx="3690000" cy="1980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4400" bIns="14400" wrap="square">
            <a:normAutofit/>
          </a:bodyPr>
          <a:lstStyle/>
          <a:p>
            <a:pPr algn="ctr"/>
            <a:r>
              <a:rPr sz="840" b="1">
                <a:solidFill>
                  <a:srgbClr val="14532D"/>
                </a:solidFill>
                <a:latin typeface="Microsoft YaHei"/>
              </a:rPr>
              <a:t>2. Transport &amp; Signalling Gap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2000" y="774000"/>
            <a:ext cx="3924000" cy="1980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4400" bIns="14400" wrap="square">
            <a:normAutofit/>
          </a:bodyPr>
          <a:lstStyle/>
          <a:p>
            <a:pPr algn="ctr"/>
            <a:r>
              <a:rPr sz="840" b="1">
                <a:solidFill>
                  <a:srgbClr val="92400E"/>
                </a:solidFill>
                <a:latin typeface="Microsoft YaHei"/>
              </a:rPr>
              <a:t>3. Study Questions For 6G-MED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1062000"/>
            <a:ext cx="3600000" cy="8100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016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19" b="1">
                <a:solidFill>
                  <a:srgbClr val="1E3A8A"/>
                </a:solidFill>
                <a:latin typeface="Microsoft YaHei"/>
              </a:rPr>
              <a:t>Tokenized traffic vs representation transport</a:t>
            </a:r>
          </a:p>
          <a:p>
            <a:pPr>
              <a:spcBef>
                <a:spcPts val="200"/>
              </a:spcBef>
              <a:defRPr sz="840">
                <a:solidFill>
                  <a:srgbClr val="334155"/>
                </a:solidFill>
                <a:latin typeface="Microsoft YaHei"/>
              </a:defRPr>
            </a:pPr>
            <a:r>
              <a:t>Tokenized traffic: token counts/rates, inter-token gaps, TTFT/TTLT and burstiness measured from logs, traces or PCAP.</a:t>
            </a:r>
          </a:p>
          <a:p>
            <a:pPr>
              <a:spcBef>
                <a:spcPts val="200"/>
              </a:spcBef>
              <a:defRPr sz="840">
                <a:solidFill>
                  <a:srgbClr val="334155"/>
                </a:solidFill>
                <a:latin typeface="Microsoft YaHei"/>
              </a:defRPr>
            </a:pPr>
            <a:r>
              <a:t>AI-native representation transport: explicit carriage of model-consumable units such as discrete tokens, embeddings, latents and tensors.</a:t>
            </a:r>
          </a:p>
          <a:p>
            <a:pPr>
              <a:spcBef>
                <a:spcPts val="200"/>
              </a:spcBef>
              <a:defRPr sz="840">
                <a:solidFill>
                  <a:srgbClr val="334155"/>
                </a:solidFill>
                <a:latin typeface="Microsoft YaHei"/>
              </a:defRPr>
            </a:pPr>
            <a:r>
              <a:t>The second case raises media-layer questions that ordinary traffic metrics do not answer.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998000"/>
            <a:ext cx="3600000" cy="7560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016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19" b="1">
                <a:solidFill>
                  <a:srgbClr val="1E3A8A"/>
                </a:solidFill>
                <a:latin typeface="Microsoft YaHei"/>
              </a:rPr>
              <a:t>Why this matters for traffic characteristics</a:t>
            </a:r>
          </a:p>
          <a:p>
            <a:pPr>
              <a:spcBef>
                <a:spcPts val="200"/>
              </a:spcBef>
              <a:defRPr sz="840">
                <a:solidFill>
                  <a:srgbClr val="334155"/>
                </a:solidFill>
                <a:latin typeface="Microsoft YaHei"/>
              </a:defRPr>
            </a:pPr>
            <a:r>
              <a:t>UE may transmit task-relevant representations instead of full camera/microphone/sensor media.</a:t>
            </a:r>
          </a:p>
          <a:p>
            <a:pPr>
              <a:spcBef>
                <a:spcPts val="200"/>
              </a:spcBef>
              <a:defRPr sz="840">
                <a:solidFill>
                  <a:srgbClr val="334155"/>
                </a:solidFill>
                <a:latin typeface="Microsoft YaHei"/>
              </a:defRPr>
            </a:pPr>
            <a:r>
              <a:t>Conventional media and AI-native representations may be sent together: one stream for human consumption, one for AI processing.</a:t>
            </a:r>
          </a:p>
          <a:p>
            <a:pPr>
              <a:spcBef>
                <a:spcPts val="200"/>
              </a:spcBef>
              <a:defRPr sz="840">
                <a:solidFill>
                  <a:srgbClr val="334155"/>
                </a:solidFill>
                <a:latin typeface="Microsoft YaHei"/>
              </a:defRPr>
            </a:pPr>
            <a:r>
              <a:t>Task-oriented compression shifts optimization target from signal reconstruction to downstream inference/control utility.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2880000"/>
          <a:ext cx="3600000" cy="84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000"/>
                <a:gridCol w="1200000"/>
                <a:gridCol w="1200000"/>
              </a:tblGrid>
              <a:tr h="169200">
                <a:tc>
                  <a:txBody>
                    <a:bodyPr/>
                    <a:lstStyle/>
                    <a:p>
                      <a:pPr algn="l">
                        <a:defRPr sz="71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Representation</a:t>
                      </a:r>
                    </a:p>
                  </a:txBody>
                  <a:tcPr marL="18000" marR="18000" marT="10800" marB="1080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1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Typical source</a:t>
                      </a:r>
                    </a:p>
                  </a:txBody>
                  <a:tcPr marL="18000" marR="18000" marT="10800" marB="1080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1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Traffic implication</a:t>
                      </a:r>
                    </a:p>
                  </a:txBody>
                  <a:tcPr marL="18000" marR="18000" marT="10800" marB="10800">
                    <a:solidFill>
                      <a:srgbClr val="DBEAFE"/>
                    </a:solidFill>
                  </a:tcPr>
                </a:tc>
              </a:tr>
              <a:tr h="169200">
                <a:tc>
                  <a:txBody>
                    <a:bodyPr/>
                    <a:lstStyle/>
                    <a:p>
                      <a:pPr algn="l">
                        <a:defRPr sz="69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Visual token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9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VLM/video tokenizer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9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periodic or bursty token stream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  <a:tr h="169200">
                <a:tc>
                  <a:txBody>
                    <a:bodyPr/>
                    <a:lstStyle/>
                    <a:p>
                      <a:pPr algn="l">
                        <a:defRPr sz="69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Embedding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9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image/audio/sensor encoder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9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metadata-bound vector payload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  <a:tr h="169200">
                <a:tc>
                  <a:txBody>
                    <a:bodyPr/>
                    <a:lstStyle/>
                    <a:p>
                      <a:pPr algn="l">
                        <a:defRPr sz="69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Latent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9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generative model codec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9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compressed semantic state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  <a:tr h="169200">
                <a:tc>
                  <a:txBody>
                    <a:bodyPr/>
                    <a:lstStyle/>
                    <a:p>
                      <a:pPr algn="l">
                        <a:defRPr sz="69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Feature tensor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9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machine analysis pipeline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9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shape/model-dependent payload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13999" y="3888000"/>
            <a:ext cx="756000" cy="34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4400" bIns="14400" wrap="square">
            <a:normAutofit/>
          </a:bodyPr>
          <a:lstStyle/>
          <a:p>
            <a:pPr algn="ctr"/>
            <a:r>
              <a:rPr sz="740" b="1">
                <a:solidFill>
                  <a:srgbClr val="1E3A8A"/>
                </a:solidFill>
                <a:latin typeface="Microsoft YaHei"/>
              </a:rPr>
              <a:t>Source media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04000" y="3888000"/>
            <a:ext cx="756000" cy="34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4400" bIns="14400" wrap="square">
            <a:normAutofit/>
          </a:bodyPr>
          <a:lstStyle/>
          <a:p>
            <a:pPr algn="ctr"/>
            <a:r>
              <a:rPr sz="740" b="1">
                <a:solidFill>
                  <a:srgbClr val="1E3A8A"/>
                </a:solidFill>
                <a:latin typeface="Microsoft YaHei"/>
              </a:rPr>
              <a:t>Tokenizer/
Encoder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94000" y="3888000"/>
            <a:ext cx="756000" cy="34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4400" bIns="14400" wrap="square">
            <a:normAutofit/>
          </a:bodyPr>
          <a:lstStyle/>
          <a:p>
            <a:pPr algn="ctr"/>
            <a:r>
              <a:rPr sz="740" b="1">
                <a:solidFill>
                  <a:srgbClr val="1E3A8A"/>
                </a:solidFill>
                <a:latin typeface="Microsoft YaHei"/>
              </a:rPr>
              <a:t>AI-native
representation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4000" y="3888000"/>
            <a:ext cx="756000" cy="34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4400" bIns="14400" wrap="square">
            <a:normAutofit/>
          </a:bodyPr>
          <a:lstStyle/>
          <a:p>
            <a:pPr algn="ctr"/>
            <a:r>
              <a:rPr sz="740" b="1">
                <a:solidFill>
                  <a:srgbClr val="1E3A8A"/>
                </a:solidFill>
                <a:latin typeface="Microsoft YaHei"/>
              </a:rPr>
              <a:t>Inference /
AI media fn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206000" y="4060800"/>
            <a:ext cx="162000" cy="0"/>
          </a:xfrm>
          <a:prstGeom prst="line">
            <a:avLst/>
          </a:prstGeom>
          <a:ln w="1651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196000" y="4060800"/>
            <a:ext cx="162000" cy="0"/>
          </a:xfrm>
          <a:prstGeom prst="line">
            <a:avLst/>
          </a:prstGeom>
          <a:ln w="1651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186000" y="4060800"/>
            <a:ext cx="161999" cy="0"/>
          </a:xfrm>
          <a:prstGeom prst="line">
            <a:avLst/>
          </a:prstGeom>
          <a:ln w="1651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086000" y="1062000"/>
            <a:ext cx="3690000" cy="936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016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19" b="1">
                <a:solidFill>
                  <a:srgbClr val="14532D"/>
                </a:solidFill>
                <a:latin typeface="Microsoft YaHei"/>
              </a:rPr>
              <a:t>Current TR gap</a:t>
            </a:r>
          </a:p>
          <a:p>
            <a:pPr>
              <a:spcBef>
                <a:spcPts val="200"/>
              </a:spcBef>
              <a:defRPr sz="840">
                <a:solidFill>
                  <a:srgbClr val="334155"/>
                </a:solidFill>
                <a:latin typeface="Microsoft YaHei"/>
              </a:defRPr>
            </a:pPr>
            <a:r>
              <a:t>TR 26.870 has initial traffic characterization metrics, but not transport/signalling for delay-bound representation streams.</a:t>
            </a:r>
          </a:p>
          <a:p>
            <a:pPr>
              <a:spcBef>
                <a:spcPts val="200"/>
              </a:spcBef>
              <a:defRPr sz="840">
                <a:solidFill>
                  <a:srgbClr val="334155"/>
                </a:solidFill>
                <a:latin typeface="Microsoft YaHei"/>
              </a:defRPr>
            </a:pPr>
            <a:r>
              <a:t>Open questions include packetization, fragmentation, aggregation, timing, stream association, synchronization and receiver interpretation.</a:t>
            </a:r>
          </a:p>
          <a:p>
            <a:pPr>
              <a:spcBef>
                <a:spcPts val="200"/>
              </a:spcBef>
              <a:defRPr sz="840">
                <a:solidFill>
                  <a:srgbClr val="334155"/>
                </a:solidFill>
                <a:latin typeface="Microsoft YaHei"/>
              </a:defRPr>
            </a:pPr>
            <a:r>
              <a:t>Metadata is needed to identify representation type, model/encoder, source media correlation and processing semantics.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86000" y="2124000"/>
            <a:ext cx="3690000" cy="846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016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19" b="1">
                <a:solidFill>
                  <a:srgbClr val="14532D"/>
                </a:solidFill>
                <a:latin typeface="Microsoft YaHei"/>
              </a:rPr>
              <a:t>RTP/SDP is a candidate, but not sufficient yet</a:t>
            </a:r>
          </a:p>
          <a:p>
            <a:pPr>
              <a:spcBef>
                <a:spcPts val="200"/>
              </a:spcBef>
              <a:defRPr sz="840">
                <a:solidFill>
                  <a:srgbClr val="334155"/>
                </a:solidFill>
                <a:latin typeface="Microsoft YaHei"/>
              </a:defRPr>
            </a:pPr>
            <a:r>
              <a:t>RTP already supports time-sensitive packetized media and WebRTC/3GPP real-time sessions.</a:t>
            </a:r>
          </a:p>
          <a:p>
            <a:pPr>
              <a:spcBef>
                <a:spcPts val="200"/>
              </a:spcBef>
              <a:defRPr sz="840">
                <a:solidFill>
                  <a:srgbClr val="334155"/>
                </a:solidFill>
                <a:latin typeface="Microsoft YaHei"/>
              </a:defRPr>
            </a:pPr>
            <a:r>
              <a:t>SDP can negotiate payload formats and media parameters.</a:t>
            </a:r>
          </a:p>
          <a:p>
            <a:pPr>
              <a:spcBef>
                <a:spcPts val="200"/>
              </a:spcBef>
              <a:defRPr sz="840">
                <a:solidFill>
                  <a:srgbClr val="334155"/>
                </a:solidFill>
                <a:latin typeface="Microsoft YaHei"/>
              </a:defRPr>
            </a:pPr>
            <a:r>
              <a:t>No interoperable RTP payload format or SDP signalling model is identified for AI-native representation streams.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086000" y="3114000"/>
          <a:ext cx="3690000" cy="99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0000"/>
                <a:gridCol w="1230000"/>
                <a:gridCol w="1230000"/>
              </a:tblGrid>
              <a:tr h="16500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Layer</a:t>
                      </a:r>
                    </a:p>
                  </a:txBody>
                  <a:tcPr marL="18000" marR="18000" marT="10800" marB="1080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Required study item</a:t>
                      </a:r>
                    </a:p>
                  </a:txBody>
                  <a:tcPr marL="18000" marR="18000" marT="10800" marB="1080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Why</a:t>
                      </a:r>
                    </a:p>
                  </a:txBody>
                  <a:tcPr marL="18000" marR="18000" marT="10800" marB="10800">
                    <a:solidFill>
                      <a:srgbClr val="DCFCE7"/>
                    </a:solidFill>
                  </a:tcPr>
                </a:tc>
              </a:tr>
              <a:tr h="165000">
                <a:tc>
                  <a:txBody>
                    <a:bodyPr/>
                    <a:lstStyle/>
                    <a:p>
                      <a:pPr algn="l">
                        <a:defRPr sz="68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Payload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format, shape, quantization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receiver/model compatibility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/>
                    <a:lstStyle/>
                    <a:p>
                      <a:pPr algn="l">
                        <a:defRPr sz="68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Packet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fragment/aggregate policy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MTU, loss, latency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/>
                    <a:lstStyle/>
                    <a:p>
                      <a:pPr algn="l">
                        <a:defRPr sz="68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Session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SDP capability negotiation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interoperability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/>
                    <a:lstStyle/>
                    <a:p>
                      <a:pPr algn="l">
                        <a:defRPr sz="68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Timing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RTP timestamp / sync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align with source media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/>
                    <a:lstStyle/>
                    <a:p>
                      <a:pPr algn="l">
                        <a:defRPr sz="68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Metadata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encoder/model/source id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semantic interpretation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7902000" y="1062000"/>
            <a:ext cx="3924000" cy="737999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19" b="1">
                <a:solidFill>
                  <a:srgbClr val="9A3412"/>
                </a:solidFill>
                <a:latin typeface="Microsoft YaHei"/>
              </a:rPr>
              <a:t>Key issue 1: representation taxonomy</a:t>
            </a:r>
          </a:p>
          <a:p>
            <a:pPr>
              <a:spcBef>
                <a:spcPts val="200"/>
              </a:spcBef>
              <a:defRPr sz="840">
                <a:solidFill>
                  <a:srgbClr val="334155"/>
                </a:solidFill>
                <a:latin typeface="Microsoft YaHei"/>
              </a:defRPr>
            </a:pPr>
            <a:r>
              <a:t>Identify relevant AI-native formats for 6G media: discrete tokens, continuous embeddings, latents, feature tensors and other intermediate AI data.</a:t>
            </a:r>
          </a:p>
          <a:p>
            <a:pPr>
              <a:spcBef>
                <a:spcPts val="200"/>
              </a:spcBef>
              <a:defRPr sz="840">
                <a:solidFill>
                  <a:srgbClr val="334155"/>
                </a:solidFill>
                <a:latin typeface="Microsoft YaHei"/>
              </a:defRPr>
            </a:pPr>
            <a:r>
              <a:t>Classify whether they are media-derived, model-derived, task-derived, or network-assisted processing artifacts.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2000" y="1890000"/>
            <a:ext cx="3924000" cy="737999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19" b="1">
                <a:solidFill>
                  <a:srgbClr val="9A3412"/>
                </a:solidFill>
                <a:latin typeface="Microsoft YaHei"/>
              </a:rPr>
              <a:t>Key issue 2: traffic and QoS requirements</a:t>
            </a:r>
          </a:p>
          <a:p>
            <a:pPr>
              <a:spcBef>
                <a:spcPts val="200"/>
              </a:spcBef>
              <a:defRPr sz="840">
                <a:solidFill>
                  <a:srgbClr val="334155"/>
                </a:solidFill>
                <a:latin typeface="Microsoft YaHei"/>
              </a:defRPr>
            </a:pPr>
            <a:r>
              <a:t>For each UE-network-server-peer exchange, define latency, reliability, synchronization and traffic characteristic requirements.</a:t>
            </a:r>
          </a:p>
          <a:p>
            <a:pPr>
              <a:spcBef>
                <a:spcPts val="200"/>
              </a:spcBef>
              <a:defRPr sz="840">
                <a:solidFill>
                  <a:srgbClr val="334155"/>
                </a:solidFill>
                <a:latin typeface="Microsoft YaHei"/>
              </a:defRPr>
            </a:pPr>
            <a:r>
              <a:t>Token-level reliability can be unequal: semantically important units may need differentiated protection.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02000" y="2718000"/>
            <a:ext cx="3924000" cy="737999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19" b="1">
                <a:solidFill>
                  <a:srgbClr val="9A3412"/>
                </a:solidFill>
                <a:latin typeface="Microsoft YaHei"/>
              </a:rPr>
              <a:t>Key issue 3: media association</a:t>
            </a:r>
          </a:p>
          <a:p>
            <a:pPr>
              <a:spcBef>
                <a:spcPts val="200"/>
              </a:spcBef>
              <a:defRPr sz="840">
                <a:solidFill>
                  <a:srgbClr val="334155"/>
                </a:solidFill>
                <a:latin typeface="Microsoft YaHei"/>
              </a:defRPr>
            </a:pPr>
            <a:r>
              <a:t>Representations may be derived from video/audio/sensor streams and consumed alongside original media.</a:t>
            </a:r>
          </a:p>
          <a:p>
            <a:pPr>
              <a:spcBef>
                <a:spcPts val="200"/>
              </a:spcBef>
              <a:defRPr sz="840">
                <a:solidFill>
                  <a:srgbClr val="334155"/>
                </a:solidFill>
                <a:latin typeface="Microsoft YaHei"/>
              </a:defRPr>
            </a:pPr>
            <a:r>
              <a:t>Study stream grouping, timestamp mapping, source correlation and cross-modal synchronization.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02000" y="3546000"/>
            <a:ext cx="3924000" cy="737999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19" b="1">
                <a:solidFill>
                  <a:srgbClr val="9A3412"/>
                </a:solidFill>
                <a:latin typeface="Microsoft YaHei"/>
              </a:rPr>
              <a:t>Key issue 4: protocol extension scope</a:t>
            </a:r>
          </a:p>
          <a:p>
            <a:pPr>
              <a:spcBef>
                <a:spcPts val="200"/>
              </a:spcBef>
              <a:defRPr sz="840">
                <a:solidFill>
                  <a:srgbClr val="334155"/>
                </a:solidFill>
                <a:latin typeface="Microsoft YaHei"/>
              </a:defRPr>
            </a:pPr>
            <a:r>
              <a:t>Assess whether existing media transport/signalling is enough.</a:t>
            </a:r>
          </a:p>
          <a:p>
            <a:pPr>
              <a:spcBef>
                <a:spcPts val="200"/>
              </a:spcBef>
              <a:defRPr sz="840">
                <a:solidFill>
                  <a:srgbClr val="334155"/>
                </a:solidFill>
                <a:latin typeface="Microsoft YaHei"/>
              </a:defRPr>
            </a:pPr>
            <a:r>
              <a:t>Potential extensions: RTP payload formats, SDP parameters, grouping semantics, metadata schemas and receiver capability signalling.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0000" y="4716000"/>
            <a:ext cx="11466000" cy="1475999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64800"/>
          <a:lstStyle/>
          <a:p>
            <a:pPr algn="ctr"/>
            <a:r>
              <a:rPr sz="1100" b="1">
                <a:solidFill>
                  <a:srgbClr val="BAE6FD"/>
                </a:solidFill>
                <a:latin typeface="Aptos"/>
              </a:rPr>
              <a:t>Technical takeaway</a:t>
            </a:r>
          </a:p>
          <a:p>
            <a:pPr>
              <a:spcBef>
                <a:spcPts val="300"/>
              </a:spcBef>
              <a:defRPr sz="900">
                <a:solidFill>
                  <a:srgbClr val="E2E8F0"/>
                </a:solidFill>
                <a:latin typeface="Microsoft YaHei"/>
              </a:defRPr>
            </a:pPr>
            <a:r>
              <a:t>S4-261805 moves the discussion from measuring token-related app behaviour to transporting AI-native representation streams as first-class media objects.</a:t>
            </a:r>
          </a:p>
          <a:p>
            <a:pPr>
              <a:spcBef>
                <a:spcPts val="300"/>
              </a:spcBef>
              <a:defRPr sz="900">
                <a:solidFill>
                  <a:srgbClr val="E2E8F0"/>
                </a:solidFill>
                <a:latin typeface="Microsoft YaHei"/>
              </a:defRPr>
            </a:pPr>
            <a:r>
              <a:t>For 6G-MED, the critical modelling unit is no longer only bytes or tokens per second; it is representation units with timing, model identity, source-media binding and task-level importance.</a:t>
            </a:r>
          </a:p>
          <a:p>
            <a:pPr>
              <a:spcBef>
                <a:spcPts val="300"/>
              </a:spcBef>
              <a:defRPr sz="900">
                <a:solidFill>
                  <a:srgbClr val="E2E8F0"/>
                </a:solidFill>
                <a:latin typeface="Microsoft YaHei"/>
              </a:defRPr>
            </a:pPr>
            <a:r>
              <a:t>The proposed TR 26.870 work should connect traffic characterization with interoperable transport/signalling design: packetization, RTP/SDP or alternatives, metadata, synchronization and QoS semantics.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8000" y="6408000"/>
            <a:ext cx="11448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25" b="0">
                <a:solidFill>
                  <a:srgbClr val="64748B"/>
                </a:solidFill>
                <a:latin typeface="Aptos"/>
              </a:rPr>
              <a:t>Source: 3GPP SA4#137-e S4-261805.zip, S4-261805_26870_[FS_6G_MED]_pCR_tokenized_traffic.docx | Nokia | revision of S4-261450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003199" y="756000"/>
            <a:ext cx="0" cy="3816000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819200" y="756000"/>
            <a:ext cx="0" cy="3816000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